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1A1A"/>
                </a:solidFill>
              </a:rPr>
              <a:t>逗猫机器人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7373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Cat-Teasing Robot with LeKiwi Mobile Manipulator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560320"/>
            <a:ext cx="8229600" cy="3840480"/>
          </a:xfrm>
          <a:prstGeom prst="roundRect">
            <a:avLst/>
          </a:prstGeom>
          <a:noFill/>
          <a:ln w="2540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AAAAAA"/>
                </a:solidFill>
              </a:rPr>
              <a:t>[ Insert Image Here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1A"/>
                </a:solidFill>
              </a:rPr>
              <a:t>Sense – Plan – Act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371600"/>
            <a:ext cx="320040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Perception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434840" y="1508760"/>
            <a:ext cx="45720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33172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GroundingDINO / SAM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352044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Localization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AprilTag pose estimation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70916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2D occupancy grid from RGB-D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371600"/>
            <a:ext cx="3200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Planning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83880" y="1508760"/>
            <a:ext cx="45720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0" y="233172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Goal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Visibility-aware heuristic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352044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Path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A* on inflated grid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470916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Motion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Predefined arm pose library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371600"/>
            <a:ext cx="3200400" cy="6400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331720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Base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Proportional velocity tracking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20440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Arm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Joint position + wand swing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709160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Safety 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Distance-based emergency 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← ─ ─ ─ ─ ─ ─ ─ ─ ─ ─ ─  FEEDBACK LOOP  ─ ─ ─ ─ ─ ─ ─ ─ ─ ─ ─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</a:rPr>
              <a:t>System Architecture &amp; Implementation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781701" cy="685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Perception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7501" y="1005840"/>
            <a:ext cx="3365473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70134" y="1005840"/>
            <a:ext cx="2197928" cy="6858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05223" y="1005840"/>
            <a:ext cx="2197928" cy="6858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Detection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Cat bbox
GroundingDINO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6784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Localization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AprilTag
6-DoF pose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4928" y="2011680"/>
            <a:ext cx="813363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Mapping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2D occupancy
from depth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69731" y="2011680"/>
            <a:ext cx="111837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Goal Selection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Partial-visibility
heuristic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9546" y="2011680"/>
            <a:ext cx="111837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Path Planning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A* + collision
inflation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360" y="2011680"/>
            <a:ext cx="111837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Motion Plan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Pose library +
wand trajectory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9175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Arm Control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Joint position
command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07319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Base Control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Proportional
velocity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15463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Actuators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LeKiwi servos
+ omni wheels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23607" y="2011680"/>
            <a:ext cx="1016704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803D"/>
                </a:solidFill>
              </a:rPr>
              <a:t>Raspberry Pi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Onboard compute
+ camera</a:t>
            </a:r>
          </a:p>
          <a:p>
            <a:pPr algn="ctr">
              <a:spcBef>
                <a:spcPts val="600"/>
              </a:spcBef>
            </a:pPr>
            <a:r>
              <a:rPr sz="900" b="1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781701" cy="822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2400E"/>
                </a:solidFill>
              </a:rPr>
              <a:t>Perception Integration</a:t>
            </a:r>
          </a:p>
          <a:p>
            <a:pPr algn="ctr"/>
            <a:r>
              <a:rPr sz="900">
                <a:solidFill>
                  <a:srgbClr val="92400E"/>
                </a:solidFill>
              </a:rPr>
              <a:t>Camera → Detect → Localize → 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7501" y="3931920"/>
            <a:ext cx="3365473" cy="822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2400E"/>
                </a:solidFill>
              </a:rPr>
              <a:t>Planning Integration</a:t>
            </a:r>
          </a:p>
          <a:p>
            <a:pPr algn="ctr"/>
            <a:r>
              <a:rPr sz="900">
                <a:solidFill>
                  <a:srgbClr val="92400E"/>
                </a:solidFill>
              </a:rPr>
              <a:t>WorldState → Goal → Path → Arm Pose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0134" y="3931920"/>
            <a:ext cx="2197928" cy="822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2400E"/>
                </a:solidFill>
              </a:rPr>
              <a:t>Control Integration</a:t>
            </a:r>
          </a:p>
          <a:p>
            <a:pPr algn="ctr"/>
            <a:r>
              <a:rPr sz="900">
                <a:solidFill>
                  <a:srgbClr val="92400E"/>
                </a:solidFill>
              </a:rPr>
              <a:t>Path → Velocity → Hardware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5223" y="3931920"/>
            <a:ext cx="2197928" cy="822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2400E"/>
                </a:solidFill>
              </a:rPr>
              <a:t>Hardware Integration</a:t>
            </a:r>
          </a:p>
          <a:p>
            <a:pPr algn="ctr"/>
            <a:r>
              <a:rPr sz="900">
                <a:solidFill>
                  <a:srgbClr val="92400E"/>
                </a:solidFill>
              </a:rPr>
              <a:t>Pi → ZMQ → Actuators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91672" cy="59436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338CA"/>
                </a:solidFill>
              </a:rPr>
              <a:t>End-to-End System Test:  Fake Data Pipeline ✓  |  Real Hardware 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AAAAA"/>
                </a:solidFill>
              </a:rPr>
              <a:t>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" y="2560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AAAAA"/>
                </a:solidFill>
              </a:rPr>
              <a:t>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" y="4114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AAAAA"/>
                </a:solidFill>
              </a:rPr>
              <a:t>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